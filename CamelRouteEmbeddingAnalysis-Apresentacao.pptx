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62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3"/>
    <p:restoredTop sz="94694"/>
  </p:normalViewPr>
  <p:slideViewPr>
    <p:cSldViewPr snapToGrid="0">
      <p:cViewPr varScale="1">
        <p:scale>
          <a:sx n="107" d="100"/>
          <a:sy n="107" d="100"/>
        </p:scale>
        <p:origin x="2248" y="4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631FFA-542D-4F49-8FAD-F65F3493D93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F7B02DA-CA55-480C-8BB6-119B56CF28A8}">
      <dgm:prSet/>
      <dgm:spPr/>
      <dgm:t>
        <a:bodyPr/>
        <a:lstStyle/>
        <a:p>
          <a:r>
            <a:rPr lang="pt-BR" b="0" i="0" baseline="0" dirty="0"/>
            <a:t>Problema: encontrar rotas semelhantes para facilitar desenvolvimento.</a:t>
          </a:r>
          <a:endParaRPr lang="en-US" dirty="0"/>
        </a:p>
      </dgm:t>
    </dgm:pt>
    <dgm:pt modelId="{1137B955-4B6E-4281-841C-404421D58B10}" type="parTrans" cxnId="{EF656F71-5C61-49E4-B8AA-216E302A55C8}">
      <dgm:prSet/>
      <dgm:spPr/>
      <dgm:t>
        <a:bodyPr/>
        <a:lstStyle/>
        <a:p>
          <a:endParaRPr lang="en-US"/>
        </a:p>
      </dgm:t>
    </dgm:pt>
    <dgm:pt modelId="{2245DB05-411E-4DE1-B79A-7F45AE1CC306}" type="sibTrans" cxnId="{EF656F71-5C61-49E4-B8AA-216E302A55C8}">
      <dgm:prSet/>
      <dgm:spPr/>
      <dgm:t>
        <a:bodyPr/>
        <a:lstStyle/>
        <a:p>
          <a:endParaRPr lang="en-US"/>
        </a:p>
      </dgm:t>
    </dgm:pt>
    <dgm:pt modelId="{90AF9F16-8766-401E-BF7E-B09303F7968F}">
      <dgm:prSet/>
      <dgm:spPr/>
      <dgm:t>
        <a:bodyPr/>
        <a:lstStyle/>
        <a:p>
          <a:r>
            <a:rPr lang="pt-BR" b="0" i="0" baseline="0" dirty="0"/>
            <a:t>Abordagem não supervisionada com PCA e TSNE 2D e UMAP 2D e 3D</a:t>
          </a:r>
          <a:endParaRPr lang="en-US" dirty="0"/>
        </a:p>
      </dgm:t>
    </dgm:pt>
    <dgm:pt modelId="{09E268EA-EFFB-4CD1-B508-4F3EA5EFDA28}" type="parTrans" cxnId="{7EC6C2AE-9366-4CBB-A90F-295686D702EB}">
      <dgm:prSet/>
      <dgm:spPr/>
      <dgm:t>
        <a:bodyPr/>
        <a:lstStyle/>
        <a:p>
          <a:endParaRPr lang="en-US"/>
        </a:p>
      </dgm:t>
    </dgm:pt>
    <dgm:pt modelId="{F7245CB0-3A50-4D01-B88C-F20F0CD01C3A}" type="sibTrans" cxnId="{7EC6C2AE-9366-4CBB-A90F-295686D702EB}">
      <dgm:prSet/>
      <dgm:spPr/>
      <dgm:t>
        <a:bodyPr/>
        <a:lstStyle/>
        <a:p>
          <a:endParaRPr lang="en-US"/>
        </a:p>
      </dgm:t>
    </dgm:pt>
    <dgm:pt modelId="{F5284148-1161-415A-8BBE-EC05A0EBB95B}">
      <dgm:prSet/>
      <dgm:spPr/>
      <dgm:t>
        <a:bodyPr/>
        <a:lstStyle/>
        <a:p>
          <a:r>
            <a:rPr lang="pt-BR" b="0" i="0" baseline="0" dirty="0"/>
            <a:t>Clusterização com DBSCAN e HDBSCAN</a:t>
          </a:r>
          <a:endParaRPr lang="en-US" dirty="0"/>
        </a:p>
      </dgm:t>
    </dgm:pt>
    <dgm:pt modelId="{21F1EC64-087D-45DE-AF55-E20352327C2F}" type="parTrans" cxnId="{4C79AC39-3946-4882-A838-05E1063DB61A}">
      <dgm:prSet/>
      <dgm:spPr/>
      <dgm:t>
        <a:bodyPr/>
        <a:lstStyle/>
        <a:p>
          <a:endParaRPr lang="en-US"/>
        </a:p>
      </dgm:t>
    </dgm:pt>
    <dgm:pt modelId="{1D20D410-20D3-4559-900C-CE850DDA7B64}" type="sibTrans" cxnId="{4C79AC39-3946-4882-A838-05E1063DB61A}">
      <dgm:prSet/>
      <dgm:spPr/>
      <dgm:t>
        <a:bodyPr/>
        <a:lstStyle/>
        <a:p>
          <a:endParaRPr lang="en-US"/>
        </a:p>
      </dgm:t>
    </dgm:pt>
    <dgm:pt modelId="{D1D77E37-DF99-4C91-B91A-81DC44ECDF68}">
      <dgm:prSet/>
      <dgm:spPr/>
      <dgm:t>
        <a:bodyPr/>
        <a:lstStyle/>
        <a:p>
          <a:r>
            <a:rPr lang="pt-BR" b="0" i="0" baseline="0" dirty="0"/>
            <a:t>Objetivo: encontrar grupos semânticos coesos.</a:t>
          </a:r>
          <a:endParaRPr lang="en-US" dirty="0"/>
        </a:p>
      </dgm:t>
    </dgm:pt>
    <dgm:pt modelId="{6E2BE1F9-4662-4335-8DA1-431FE923CE03}" type="parTrans" cxnId="{FF9E3B86-273E-4AC8-8D90-2C243B36979B}">
      <dgm:prSet/>
      <dgm:spPr/>
      <dgm:t>
        <a:bodyPr/>
        <a:lstStyle/>
        <a:p>
          <a:endParaRPr lang="en-US"/>
        </a:p>
      </dgm:t>
    </dgm:pt>
    <dgm:pt modelId="{4A93DDE2-F9BB-41FF-AF1F-27452887AFD2}" type="sibTrans" cxnId="{FF9E3B86-273E-4AC8-8D90-2C243B36979B}">
      <dgm:prSet/>
      <dgm:spPr/>
      <dgm:t>
        <a:bodyPr/>
        <a:lstStyle/>
        <a:p>
          <a:endParaRPr lang="en-US"/>
        </a:p>
      </dgm:t>
    </dgm:pt>
    <dgm:pt modelId="{182DC759-DCC4-3D4A-B701-4994F4083940}" type="pres">
      <dgm:prSet presAssocID="{20631FFA-542D-4F49-8FAD-F65F3493D93C}" presName="outerComposite" presStyleCnt="0">
        <dgm:presLayoutVars>
          <dgm:chMax val="5"/>
          <dgm:dir/>
          <dgm:resizeHandles val="exact"/>
        </dgm:presLayoutVars>
      </dgm:prSet>
      <dgm:spPr/>
    </dgm:pt>
    <dgm:pt modelId="{3662E1C3-87FE-9641-B817-A59E88667124}" type="pres">
      <dgm:prSet presAssocID="{20631FFA-542D-4F49-8FAD-F65F3493D93C}" presName="dummyMaxCanvas" presStyleCnt="0">
        <dgm:presLayoutVars/>
      </dgm:prSet>
      <dgm:spPr/>
    </dgm:pt>
    <dgm:pt modelId="{8E29A84F-00F7-2A4F-80F5-07C5FA2BEABF}" type="pres">
      <dgm:prSet presAssocID="{20631FFA-542D-4F49-8FAD-F65F3493D93C}" presName="FourNodes_1" presStyleLbl="node1" presStyleIdx="0" presStyleCnt="4">
        <dgm:presLayoutVars>
          <dgm:bulletEnabled val="1"/>
        </dgm:presLayoutVars>
      </dgm:prSet>
      <dgm:spPr/>
    </dgm:pt>
    <dgm:pt modelId="{5CC600A8-96CE-604D-B6DF-D49DDBBDA080}" type="pres">
      <dgm:prSet presAssocID="{20631FFA-542D-4F49-8FAD-F65F3493D93C}" presName="FourNodes_2" presStyleLbl="node1" presStyleIdx="1" presStyleCnt="4">
        <dgm:presLayoutVars>
          <dgm:bulletEnabled val="1"/>
        </dgm:presLayoutVars>
      </dgm:prSet>
      <dgm:spPr/>
    </dgm:pt>
    <dgm:pt modelId="{7CA80F02-128D-6449-BFE9-DC43BBBD7E1E}" type="pres">
      <dgm:prSet presAssocID="{20631FFA-542D-4F49-8FAD-F65F3493D93C}" presName="FourNodes_3" presStyleLbl="node1" presStyleIdx="2" presStyleCnt="4">
        <dgm:presLayoutVars>
          <dgm:bulletEnabled val="1"/>
        </dgm:presLayoutVars>
      </dgm:prSet>
      <dgm:spPr/>
    </dgm:pt>
    <dgm:pt modelId="{2909EC7E-E56F-994D-9D3F-1995232B7F44}" type="pres">
      <dgm:prSet presAssocID="{20631FFA-542D-4F49-8FAD-F65F3493D93C}" presName="FourNodes_4" presStyleLbl="node1" presStyleIdx="3" presStyleCnt="4">
        <dgm:presLayoutVars>
          <dgm:bulletEnabled val="1"/>
        </dgm:presLayoutVars>
      </dgm:prSet>
      <dgm:spPr/>
    </dgm:pt>
    <dgm:pt modelId="{9B6BAFC5-5EDD-DC4F-9063-DA4C69C78CFF}" type="pres">
      <dgm:prSet presAssocID="{20631FFA-542D-4F49-8FAD-F65F3493D93C}" presName="FourConn_1-2" presStyleLbl="fgAccFollowNode1" presStyleIdx="0" presStyleCnt="3">
        <dgm:presLayoutVars>
          <dgm:bulletEnabled val="1"/>
        </dgm:presLayoutVars>
      </dgm:prSet>
      <dgm:spPr/>
    </dgm:pt>
    <dgm:pt modelId="{E861B78F-79CF-BD48-B9F6-49D5C32BD90B}" type="pres">
      <dgm:prSet presAssocID="{20631FFA-542D-4F49-8FAD-F65F3493D93C}" presName="FourConn_2-3" presStyleLbl="fgAccFollowNode1" presStyleIdx="1" presStyleCnt="3">
        <dgm:presLayoutVars>
          <dgm:bulletEnabled val="1"/>
        </dgm:presLayoutVars>
      </dgm:prSet>
      <dgm:spPr/>
    </dgm:pt>
    <dgm:pt modelId="{381E2FF7-219E-0C4E-85F6-6371D3C737E4}" type="pres">
      <dgm:prSet presAssocID="{20631FFA-542D-4F49-8FAD-F65F3493D93C}" presName="FourConn_3-4" presStyleLbl="fgAccFollowNode1" presStyleIdx="2" presStyleCnt="3">
        <dgm:presLayoutVars>
          <dgm:bulletEnabled val="1"/>
        </dgm:presLayoutVars>
      </dgm:prSet>
      <dgm:spPr/>
    </dgm:pt>
    <dgm:pt modelId="{C7078935-0F28-B24F-A513-300B88EC51B1}" type="pres">
      <dgm:prSet presAssocID="{20631FFA-542D-4F49-8FAD-F65F3493D93C}" presName="FourNodes_1_text" presStyleLbl="node1" presStyleIdx="3" presStyleCnt="4">
        <dgm:presLayoutVars>
          <dgm:bulletEnabled val="1"/>
        </dgm:presLayoutVars>
      </dgm:prSet>
      <dgm:spPr/>
    </dgm:pt>
    <dgm:pt modelId="{FD8BBE3D-58D6-454B-B4E1-7FF3852C6842}" type="pres">
      <dgm:prSet presAssocID="{20631FFA-542D-4F49-8FAD-F65F3493D93C}" presName="FourNodes_2_text" presStyleLbl="node1" presStyleIdx="3" presStyleCnt="4">
        <dgm:presLayoutVars>
          <dgm:bulletEnabled val="1"/>
        </dgm:presLayoutVars>
      </dgm:prSet>
      <dgm:spPr/>
    </dgm:pt>
    <dgm:pt modelId="{44E5713B-ECCE-BF4A-BAFF-860F65FFC7DE}" type="pres">
      <dgm:prSet presAssocID="{20631FFA-542D-4F49-8FAD-F65F3493D93C}" presName="FourNodes_3_text" presStyleLbl="node1" presStyleIdx="3" presStyleCnt="4">
        <dgm:presLayoutVars>
          <dgm:bulletEnabled val="1"/>
        </dgm:presLayoutVars>
      </dgm:prSet>
      <dgm:spPr/>
    </dgm:pt>
    <dgm:pt modelId="{43B2E338-7AA7-AF42-A196-72E79D35F3D7}" type="pres">
      <dgm:prSet presAssocID="{20631FFA-542D-4F49-8FAD-F65F3493D93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AD9C014-9D8D-6948-BBCB-C7F960D43290}" type="presOf" srcId="{20631FFA-542D-4F49-8FAD-F65F3493D93C}" destId="{182DC759-DCC4-3D4A-B701-4994F4083940}" srcOrd="0" destOrd="0" presId="urn:microsoft.com/office/officeart/2005/8/layout/vProcess5"/>
    <dgm:cxn modelId="{84A15728-4C31-B94F-9B40-93025995C8AC}" type="presOf" srcId="{2245DB05-411E-4DE1-B79A-7F45AE1CC306}" destId="{9B6BAFC5-5EDD-DC4F-9063-DA4C69C78CFF}" srcOrd="0" destOrd="0" presId="urn:microsoft.com/office/officeart/2005/8/layout/vProcess5"/>
    <dgm:cxn modelId="{4C79AC39-3946-4882-A838-05E1063DB61A}" srcId="{20631FFA-542D-4F49-8FAD-F65F3493D93C}" destId="{F5284148-1161-415A-8BBE-EC05A0EBB95B}" srcOrd="2" destOrd="0" parTransId="{21F1EC64-087D-45DE-AF55-E20352327C2F}" sibTransId="{1D20D410-20D3-4559-900C-CE850DDA7B64}"/>
    <dgm:cxn modelId="{F68B5043-5834-5C47-9B89-118CDC8EDFA5}" type="presOf" srcId="{D1D77E37-DF99-4C91-B91A-81DC44ECDF68}" destId="{2909EC7E-E56F-994D-9D3F-1995232B7F44}" srcOrd="0" destOrd="0" presId="urn:microsoft.com/office/officeart/2005/8/layout/vProcess5"/>
    <dgm:cxn modelId="{E9A1EA48-4A0B-5249-80EC-609798E4C2BA}" type="presOf" srcId="{90AF9F16-8766-401E-BF7E-B09303F7968F}" destId="{FD8BBE3D-58D6-454B-B4E1-7FF3852C6842}" srcOrd="1" destOrd="0" presId="urn:microsoft.com/office/officeart/2005/8/layout/vProcess5"/>
    <dgm:cxn modelId="{5AD54B5D-C7AD-7740-BD6E-A7381255EB08}" type="presOf" srcId="{F5284148-1161-415A-8BBE-EC05A0EBB95B}" destId="{7CA80F02-128D-6449-BFE9-DC43BBBD7E1E}" srcOrd="0" destOrd="0" presId="urn:microsoft.com/office/officeart/2005/8/layout/vProcess5"/>
    <dgm:cxn modelId="{F7C65C63-A8F6-F84F-B197-ECB62E533F08}" type="presOf" srcId="{AF7B02DA-CA55-480C-8BB6-119B56CF28A8}" destId="{C7078935-0F28-B24F-A513-300B88EC51B1}" srcOrd="1" destOrd="0" presId="urn:microsoft.com/office/officeart/2005/8/layout/vProcess5"/>
    <dgm:cxn modelId="{3D66EC6F-B8BD-014C-91DF-BC3F0C2DEB7A}" type="presOf" srcId="{1D20D410-20D3-4559-900C-CE850DDA7B64}" destId="{381E2FF7-219E-0C4E-85F6-6371D3C737E4}" srcOrd="0" destOrd="0" presId="urn:microsoft.com/office/officeart/2005/8/layout/vProcess5"/>
    <dgm:cxn modelId="{EF656F71-5C61-49E4-B8AA-216E302A55C8}" srcId="{20631FFA-542D-4F49-8FAD-F65F3493D93C}" destId="{AF7B02DA-CA55-480C-8BB6-119B56CF28A8}" srcOrd="0" destOrd="0" parTransId="{1137B955-4B6E-4281-841C-404421D58B10}" sibTransId="{2245DB05-411E-4DE1-B79A-7F45AE1CC306}"/>
    <dgm:cxn modelId="{C3875381-3278-994C-977C-1456110672CF}" type="presOf" srcId="{AF7B02DA-CA55-480C-8BB6-119B56CF28A8}" destId="{8E29A84F-00F7-2A4F-80F5-07C5FA2BEABF}" srcOrd="0" destOrd="0" presId="urn:microsoft.com/office/officeart/2005/8/layout/vProcess5"/>
    <dgm:cxn modelId="{CEF85F83-E1C6-3643-A463-F8D44E8D2A0C}" type="presOf" srcId="{90AF9F16-8766-401E-BF7E-B09303F7968F}" destId="{5CC600A8-96CE-604D-B6DF-D49DDBBDA080}" srcOrd="0" destOrd="0" presId="urn:microsoft.com/office/officeart/2005/8/layout/vProcess5"/>
    <dgm:cxn modelId="{FF9E3B86-273E-4AC8-8D90-2C243B36979B}" srcId="{20631FFA-542D-4F49-8FAD-F65F3493D93C}" destId="{D1D77E37-DF99-4C91-B91A-81DC44ECDF68}" srcOrd="3" destOrd="0" parTransId="{6E2BE1F9-4662-4335-8DA1-431FE923CE03}" sibTransId="{4A93DDE2-F9BB-41FF-AF1F-27452887AFD2}"/>
    <dgm:cxn modelId="{7BE469A0-F5BD-7F4F-83B5-4705840A4E3E}" type="presOf" srcId="{D1D77E37-DF99-4C91-B91A-81DC44ECDF68}" destId="{43B2E338-7AA7-AF42-A196-72E79D35F3D7}" srcOrd="1" destOrd="0" presId="urn:microsoft.com/office/officeart/2005/8/layout/vProcess5"/>
    <dgm:cxn modelId="{7EC6C2AE-9366-4CBB-A90F-295686D702EB}" srcId="{20631FFA-542D-4F49-8FAD-F65F3493D93C}" destId="{90AF9F16-8766-401E-BF7E-B09303F7968F}" srcOrd="1" destOrd="0" parTransId="{09E268EA-EFFB-4CD1-B508-4F3EA5EFDA28}" sibTransId="{F7245CB0-3A50-4D01-B88C-F20F0CD01C3A}"/>
    <dgm:cxn modelId="{57124EB3-3681-B749-AB34-1BCCEA6FEF15}" type="presOf" srcId="{F7245CB0-3A50-4D01-B88C-F20F0CD01C3A}" destId="{E861B78F-79CF-BD48-B9F6-49D5C32BD90B}" srcOrd="0" destOrd="0" presId="urn:microsoft.com/office/officeart/2005/8/layout/vProcess5"/>
    <dgm:cxn modelId="{32890EFE-C8E6-BF44-96A7-5B473610DA1F}" type="presOf" srcId="{F5284148-1161-415A-8BBE-EC05A0EBB95B}" destId="{44E5713B-ECCE-BF4A-BAFF-860F65FFC7DE}" srcOrd="1" destOrd="0" presId="urn:microsoft.com/office/officeart/2005/8/layout/vProcess5"/>
    <dgm:cxn modelId="{FDD9F208-9B5F-F74D-8933-09756450AAA7}" type="presParOf" srcId="{182DC759-DCC4-3D4A-B701-4994F4083940}" destId="{3662E1C3-87FE-9641-B817-A59E88667124}" srcOrd="0" destOrd="0" presId="urn:microsoft.com/office/officeart/2005/8/layout/vProcess5"/>
    <dgm:cxn modelId="{F1A9BAE2-AC8A-2A45-85C9-75C5ABD03DBC}" type="presParOf" srcId="{182DC759-DCC4-3D4A-B701-4994F4083940}" destId="{8E29A84F-00F7-2A4F-80F5-07C5FA2BEABF}" srcOrd="1" destOrd="0" presId="urn:microsoft.com/office/officeart/2005/8/layout/vProcess5"/>
    <dgm:cxn modelId="{C70DA6D5-95FA-1E4F-89FA-205EC0300586}" type="presParOf" srcId="{182DC759-DCC4-3D4A-B701-4994F4083940}" destId="{5CC600A8-96CE-604D-B6DF-D49DDBBDA080}" srcOrd="2" destOrd="0" presId="urn:microsoft.com/office/officeart/2005/8/layout/vProcess5"/>
    <dgm:cxn modelId="{8ED1BAAD-77D5-B84E-BAF2-4EB77A657CD7}" type="presParOf" srcId="{182DC759-DCC4-3D4A-B701-4994F4083940}" destId="{7CA80F02-128D-6449-BFE9-DC43BBBD7E1E}" srcOrd="3" destOrd="0" presId="urn:microsoft.com/office/officeart/2005/8/layout/vProcess5"/>
    <dgm:cxn modelId="{4C62858D-419D-A54C-A2EF-33EA3F437875}" type="presParOf" srcId="{182DC759-DCC4-3D4A-B701-4994F4083940}" destId="{2909EC7E-E56F-994D-9D3F-1995232B7F44}" srcOrd="4" destOrd="0" presId="urn:microsoft.com/office/officeart/2005/8/layout/vProcess5"/>
    <dgm:cxn modelId="{37175CD9-D105-9C4C-9B51-68D706993A26}" type="presParOf" srcId="{182DC759-DCC4-3D4A-B701-4994F4083940}" destId="{9B6BAFC5-5EDD-DC4F-9063-DA4C69C78CFF}" srcOrd="5" destOrd="0" presId="urn:microsoft.com/office/officeart/2005/8/layout/vProcess5"/>
    <dgm:cxn modelId="{637038E9-DDAE-8640-93EC-6C7FF7B39821}" type="presParOf" srcId="{182DC759-DCC4-3D4A-B701-4994F4083940}" destId="{E861B78F-79CF-BD48-B9F6-49D5C32BD90B}" srcOrd="6" destOrd="0" presId="urn:microsoft.com/office/officeart/2005/8/layout/vProcess5"/>
    <dgm:cxn modelId="{777EE0E0-068F-3140-A33A-E52ACE6DCC77}" type="presParOf" srcId="{182DC759-DCC4-3D4A-B701-4994F4083940}" destId="{381E2FF7-219E-0C4E-85F6-6371D3C737E4}" srcOrd="7" destOrd="0" presId="urn:microsoft.com/office/officeart/2005/8/layout/vProcess5"/>
    <dgm:cxn modelId="{7093540D-E795-B14E-900D-5494ED416467}" type="presParOf" srcId="{182DC759-DCC4-3D4A-B701-4994F4083940}" destId="{C7078935-0F28-B24F-A513-300B88EC51B1}" srcOrd="8" destOrd="0" presId="urn:microsoft.com/office/officeart/2005/8/layout/vProcess5"/>
    <dgm:cxn modelId="{D72D1B28-1043-DB44-A6CC-9D0742E55A19}" type="presParOf" srcId="{182DC759-DCC4-3D4A-B701-4994F4083940}" destId="{FD8BBE3D-58D6-454B-B4E1-7FF3852C6842}" srcOrd="9" destOrd="0" presId="urn:microsoft.com/office/officeart/2005/8/layout/vProcess5"/>
    <dgm:cxn modelId="{A4A869C7-1656-6B47-8680-28E9EFC0D846}" type="presParOf" srcId="{182DC759-DCC4-3D4A-B701-4994F4083940}" destId="{44E5713B-ECCE-BF4A-BAFF-860F65FFC7DE}" srcOrd="10" destOrd="0" presId="urn:microsoft.com/office/officeart/2005/8/layout/vProcess5"/>
    <dgm:cxn modelId="{3EE70A07-F01F-D240-8B43-99BC7C5E6B8F}" type="presParOf" srcId="{182DC759-DCC4-3D4A-B701-4994F4083940}" destId="{43B2E338-7AA7-AF42-A196-72E79D35F3D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29A84F-00F7-2A4F-80F5-07C5FA2BEABF}">
      <dsp:nvSpPr>
        <dsp:cNvPr id="0" name=""/>
        <dsp:cNvSpPr/>
      </dsp:nvSpPr>
      <dsp:spPr>
        <a:xfrm>
          <a:off x="0" y="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0" i="0" kern="1200" baseline="0" dirty="0"/>
            <a:t>Problema: encontrar rotas semelhantes para facilitar desenvolvimento.</a:t>
          </a:r>
          <a:endParaRPr lang="en-US" sz="2100" kern="1200" dirty="0"/>
        </a:p>
      </dsp:txBody>
      <dsp:txXfrm>
        <a:off x="23773" y="23773"/>
        <a:ext cx="7797822" cy="764123"/>
      </dsp:txXfrm>
    </dsp:sp>
    <dsp:sp modelId="{5CC600A8-96CE-604D-B6DF-D49DDBBDA080}">
      <dsp:nvSpPr>
        <dsp:cNvPr id="0" name=""/>
        <dsp:cNvSpPr/>
      </dsp:nvSpPr>
      <dsp:spPr>
        <a:xfrm>
          <a:off x="732164" y="95924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0" i="0" kern="1200" baseline="0" dirty="0"/>
            <a:t>Abordagem não supervisionada com PCA e TSNE 2D e UMAP 2D e 3D</a:t>
          </a:r>
          <a:endParaRPr lang="en-US" sz="2100" kern="1200" dirty="0"/>
        </a:p>
      </dsp:txBody>
      <dsp:txXfrm>
        <a:off x="755937" y="983018"/>
        <a:ext cx="7434967" cy="764123"/>
      </dsp:txXfrm>
    </dsp:sp>
    <dsp:sp modelId="{7CA80F02-128D-6449-BFE9-DC43BBBD7E1E}">
      <dsp:nvSpPr>
        <dsp:cNvPr id="0" name=""/>
        <dsp:cNvSpPr/>
      </dsp:nvSpPr>
      <dsp:spPr>
        <a:xfrm>
          <a:off x="1453401" y="191849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0" i="0" kern="1200" baseline="0" dirty="0"/>
            <a:t>Clusterização com DBSCAN e HDBSCAN</a:t>
          </a:r>
          <a:endParaRPr lang="en-US" sz="2100" kern="1200" dirty="0"/>
        </a:p>
      </dsp:txBody>
      <dsp:txXfrm>
        <a:off x="1477174" y="1942263"/>
        <a:ext cx="7445895" cy="764123"/>
      </dsp:txXfrm>
    </dsp:sp>
    <dsp:sp modelId="{2909EC7E-E56F-994D-9D3F-1995232B7F44}">
      <dsp:nvSpPr>
        <dsp:cNvPr id="0" name=""/>
        <dsp:cNvSpPr/>
      </dsp:nvSpPr>
      <dsp:spPr>
        <a:xfrm>
          <a:off x="2185565" y="287773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0" i="0" kern="1200" baseline="0" dirty="0"/>
            <a:t>Objetivo: encontrar grupos semânticos coesos.</a:t>
          </a:r>
          <a:endParaRPr lang="en-US" sz="2100" kern="1200" dirty="0"/>
        </a:p>
      </dsp:txBody>
      <dsp:txXfrm>
        <a:off x="2209338" y="2901508"/>
        <a:ext cx="7434967" cy="764123"/>
      </dsp:txXfrm>
    </dsp:sp>
    <dsp:sp modelId="{9B6BAFC5-5EDD-DC4F-9063-DA4C69C78CFF}">
      <dsp:nvSpPr>
        <dsp:cNvPr id="0" name=""/>
        <dsp:cNvSpPr/>
      </dsp:nvSpPr>
      <dsp:spPr>
        <a:xfrm>
          <a:off x="8214678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33384" y="621664"/>
        <a:ext cx="290172" cy="397007"/>
      </dsp:txXfrm>
    </dsp:sp>
    <dsp:sp modelId="{E861B78F-79CF-BD48-B9F6-49D5C32BD90B}">
      <dsp:nvSpPr>
        <dsp:cNvPr id="0" name=""/>
        <dsp:cNvSpPr/>
      </dsp:nvSpPr>
      <dsp:spPr>
        <a:xfrm>
          <a:off x="8946842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62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62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065548" y="1580910"/>
        <a:ext cx="290172" cy="397007"/>
      </dsp:txXfrm>
    </dsp:sp>
    <dsp:sp modelId="{381E2FF7-219E-0C4E-85F6-6371D3C737E4}">
      <dsp:nvSpPr>
        <dsp:cNvPr id="0" name=""/>
        <dsp:cNvSpPr/>
      </dsp:nvSpPr>
      <dsp:spPr>
        <a:xfrm>
          <a:off x="9668079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786785" y="2540155"/>
        <a:ext cx="290172" cy="3970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3CA9E5-A0B5-054A-813B-A8EEE27E5859}" type="datetimeFigureOut">
              <a:rPr lang="es-ES_tradnl" smtClean="0"/>
              <a:t>17/12/25</a:t>
            </a:fld>
            <a:endParaRPr lang="es-ES_tradnl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804731-88E0-F440-BCDA-8AF9564BD6BA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99061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9364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83849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36272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6734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EADB-F6BC-E764-5203-7FBA5EA81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25B8B1-94BE-86D4-2C48-A275C5716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E408053-3CC1-8703-B9D4-BECC0C42B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95140E-E0BA-D496-AAF0-8531BC050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05188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07B0B-58E6-AC9D-86E7-571CBE67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2686C90-1B6C-238C-2986-CD5725783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1A87537-4E16-048C-B004-9A2A50374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F4001F-C91B-69DC-5B80-80B66CF9C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27822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CFB9B-97A3-2A79-715C-E652D50C5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340A2CC-9E64-FCC5-AD52-1ED48D325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14D9509-9F93-5CE8-47D6-50259CC6F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4C4995-EE8A-8AC5-2168-2FCC9241C3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09733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63D12-D33C-DC62-380F-608346295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C814C19-5A1B-2CB0-A328-CB63A71CD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4122B7E-D507-FB35-F14B-50E69644A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30E783-A3EB-D539-3DBA-DBEEB6EFF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91322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B40FD-6F59-5FD8-8842-E2451A334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207BDC9-C27D-39FA-D4EB-86E5FA509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705380C-CB34-C612-9D75-135AC071A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53539F-FA61-530E-BEB8-EC0C62D81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66635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5538F-262D-C34C-A4DA-BDA63C603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273479-11DD-11EF-7643-840B5A049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s-ES_tradnl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F3F584-0411-784E-BB6A-E9F8C7765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17/12/25</a:t>
            </a:fld>
            <a:endParaRPr lang="es-ES_tradnl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7FD14-08BA-9B28-E03E-2FD6FFE4F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9919DE-E940-A3A5-838D-D88499004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60184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012B2-E29A-C63A-795B-D1B1592D8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C28004-D424-8DEB-1ABD-E547A1520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D250E9-61C2-8A6C-26E3-174D72C3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17/12/25</a:t>
            </a:fld>
            <a:endParaRPr lang="es-ES_tradnl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075165-DFF5-1008-B97C-C1D536EA0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035732-6CC7-EF06-BCF6-C1F2FC248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4905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05E77-3EA2-7893-47EA-DDD1B4BB1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77F72E-8296-9361-FD7D-C6E5EA897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E7CCDC-19DA-1547-0A49-329E2AA2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17/12/25</a:t>
            </a:fld>
            <a:endParaRPr lang="es-ES_tradnl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C0378-4E09-4A74-B96B-52F62064E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B1F283-E5DC-62DB-18B2-E2966D78A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74802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8E7D2-3B33-8A32-A57A-15CBE93B6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B71470-3700-1DAE-6E8A-FFFD6C33D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E4212B8-0919-C2D5-9415-78653F2FB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C644EF-19AA-6570-66E8-50B722251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17/12/25</a:t>
            </a:fld>
            <a:endParaRPr lang="es-ES_tradnl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68CDF4-6719-68B8-8212-7D1B8309F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C9A168-348B-03D3-FAA2-EF54ECBBC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66967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14F91-FA9D-CEBB-CAC2-D975CB08E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4C99D9-DCD1-6625-6E68-3C6AD2737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C870DA-30BD-3108-322C-2CEE70591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18C27CE-54B9-D003-7C37-B718D91CA5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9E50FD0-85FF-862C-E8FD-E2DCEE2219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AD03881-F89F-2124-7665-073274E88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17/12/25</a:t>
            </a:fld>
            <a:endParaRPr lang="es-ES_tradnl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13F20AF-727C-3638-C434-B534B82F0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4B30DD2-5440-FF0B-9DB6-7DBF83D79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06036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65160-1165-5DB5-4DF3-A7D7F1570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519022-E465-405E-FBFE-B9777A7F0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17/12/25</a:t>
            </a:fld>
            <a:endParaRPr lang="es-ES_tradnl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A9D29AC-5D4B-DB7F-F72B-9160BAB62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ECA2A36-B30D-41E6-EB2F-32C6953A3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50523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6A6FC29-447C-D639-2EF5-B0A601923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17/12/25</a:t>
            </a:fld>
            <a:endParaRPr lang="es-ES_tradnl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DBE1AB4-39B7-2122-AC99-0A35B7D87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6DF96C-ADE0-406C-32CE-0DD481AF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87683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71DD3-88D7-BCC3-E6CF-3450CCA5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B917A-A660-839B-31CA-04F218912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8949E91-6B6A-D0B1-EF6D-72EFB1E20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FFE51A-8056-330A-E68F-4CDDBE021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17/12/25</a:t>
            </a:fld>
            <a:endParaRPr lang="es-ES_tradnl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2F9BC8-60EA-0E05-BD4D-F848DEAF7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D17511-01A4-B367-8522-188A520A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33059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2562E-FC47-DE2D-AFA1-878CDA8C5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100A87F-4877-878B-F3B8-4C8A945B9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8E8003-80DA-7265-71D9-893C04BD9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8C05FD-C65C-8A72-9BFB-9DDD7AC0A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17/12/25</a:t>
            </a:fld>
            <a:endParaRPr lang="es-ES_tradnl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8DBB00-9B91-1D74-570D-4C1F45602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0F1E1E8-C121-EE4D-A7EE-247D247C4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57540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A0887-4B6C-81B8-E289-673857012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EB3E774-F5F8-07F5-01CB-5C413BD86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D90C61-D684-E223-11A5-00A35D1DF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17/12/25</a:t>
            </a:fld>
            <a:endParaRPr lang="es-ES_tradnl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0FFCDE-A93F-637F-5792-C44D6A0F8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270BAD-C6E3-570F-72CB-65D54AC31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65544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D06B2B-F89C-AE15-3A18-C393DE2C4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0A378A-C118-6DEC-B331-2D78CA404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1FDFB3-00E6-45A6-7137-C5C11B0B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17/12/25</a:t>
            </a:fld>
            <a:endParaRPr lang="es-ES_tradnl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5D3FFE-A950-1AF3-B90F-635C31D75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446FB2-8D62-7CE9-2512-53AFB4562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44143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AB4D1D8-7C3B-96A6-D316-E1F6FDD47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CDB520-B2F7-C34E-5647-47DF1126D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296BB1-3D1D-98A2-CF99-EF83F7BC3B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07B9DB-ABE5-A84D-A937-869D17F4CABF}" type="datetimeFigureOut">
              <a:rPr lang="es-ES_tradnl" smtClean="0"/>
              <a:t>17/12/25</a:t>
            </a:fld>
            <a:endParaRPr lang="es-ES_tradnl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4FABE3-CCF2-1987-2075-4FDABF64F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65C67C-E9DF-266F-904A-C324BB1F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9295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AC888-2B5B-3AD2-089B-48B947A57E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Segmentação de Rotas Apache Camel Java DSL</a:t>
            </a:r>
            <a:endParaRPr lang="pt-BR" noProof="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32AAA1-35ED-98A9-12E9-0030F37FA4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noProof="0" dirty="0"/>
              <a:t>Análise não supervisionada de classes Java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C8338CF9-A165-EBEA-4001-707D102F5DDB}"/>
              </a:ext>
            </a:extLst>
          </p:cNvPr>
          <p:cNvSpPr txBox="1">
            <a:spLocks/>
          </p:cNvSpPr>
          <p:nvPr/>
        </p:nvSpPr>
        <p:spPr>
          <a:xfrm>
            <a:off x="1524000" y="5436973"/>
            <a:ext cx="9144000" cy="648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noProof="0" dirty="0"/>
              <a:t>Gil César Faria – Dezembro de 2025</a:t>
            </a:r>
          </a:p>
        </p:txBody>
      </p:sp>
    </p:spTree>
    <p:extLst>
      <p:ext uri="{BB962C8B-B14F-4D97-AF65-F5344CB8AC3E}">
        <p14:creationId xmlns:p14="http://schemas.microsoft.com/office/powerpoint/2010/main" val="3630618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A0EFFC-5799-184C-1519-5A0BDEB5C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2AE1CB-1EF2-A695-BD51-73DA3EBC9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s-ES_tradnl" sz="4000">
                <a:solidFill>
                  <a:srgbClr val="FFFFFF"/>
                </a:solidFill>
              </a:rPr>
              <a:t>Introdução</a:t>
            </a:r>
            <a:endParaRPr lang="es-ES_tradnl" sz="4000" dirty="0">
              <a:solidFill>
                <a:srgbClr val="FFFFFF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743786-2BEE-B6CA-FF31-63E76ED2D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51BEB339-06E7-C2A4-9BF3-CEE3223E34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295902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24653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D3F24-4BEB-88B5-9C3A-428DC983B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7E29F-9B23-F625-0140-E7A6ED58D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Protocolo e Metodología</a:t>
            </a: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100132AB-9AE8-D1F1-64DD-789D5A571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48" y="1774828"/>
            <a:ext cx="11931497" cy="430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83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6EA2A-28AD-0D46-7268-A5DDCADAA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4474E6-63A8-DD91-3479-0013A0511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Base de Dados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A397817D-934E-C671-D9C0-63C4F8365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1734 </a:t>
            </a:r>
            <a:r>
              <a:rPr lang="es-ES_tradnl" dirty="0" err="1"/>
              <a:t>classes</a:t>
            </a:r>
            <a:r>
              <a:rPr lang="es-ES_tradnl" dirty="0"/>
              <a:t> Java, cada </a:t>
            </a:r>
            <a:r>
              <a:rPr lang="es-ES_tradnl" dirty="0" err="1"/>
              <a:t>uma</a:t>
            </a:r>
            <a:r>
              <a:rPr lang="es-ES_tradnl" dirty="0"/>
              <a:t> representando </a:t>
            </a:r>
            <a:r>
              <a:rPr lang="es-ES_tradnl" dirty="0" err="1"/>
              <a:t>uma</a:t>
            </a:r>
            <a:r>
              <a:rPr lang="es-ES_tradnl" dirty="0"/>
              <a:t> Rota Apache Camel</a:t>
            </a:r>
          </a:p>
          <a:p>
            <a:r>
              <a:rPr lang="es-ES_tradnl" dirty="0" err="1"/>
              <a:t>Projeto</a:t>
            </a:r>
            <a:r>
              <a:rPr lang="es-ES_tradnl" dirty="0"/>
              <a:t> real, código </a:t>
            </a:r>
            <a:r>
              <a:rPr lang="es-ES_tradnl" dirty="0" err="1"/>
              <a:t>fonte</a:t>
            </a:r>
            <a:r>
              <a:rPr lang="es-ES_tradnl" dirty="0"/>
              <a:t> fechado, </a:t>
            </a:r>
            <a:r>
              <a:rPr lang="es-ES_tradnl" dirty="0" err="1"/>
              <a:t>não</a:t>
            </a:r>
            <a:r>
              <a:rPr lang="es-ES_tradnl" dirty="0"/>
              <a:t> </a:t>
            </a:r>
            <a:r>
              <a:rPr lang="es-ES_tradnl" dirty="0" err="1"/>
              <a:t>permitindo</a:t>
            </a:r>
            <a:r>
              <a:rPr lang="es-ES_tradnl" dirty="0"/>
              <a:t> </a:t>
            </a:r>
            <a:r>
              <a:rPr lang="es-ES_tradnl" dirty="0" err="1"/>
              <a:t>compartilhamento</a:t>
            </a:r>
            <a:endParaRPr lang="es-ES_tradnl" dirty="0"/>
          </a:p>
          <a:p>
            <a:r>
              <a:rPr lang="es-ES_tradnl" dirty="0" err="1"/>
              <a:t>Morfologia</a:t>
            </a:r>
            <a:r>
              <a:rPr lang="es-ES_tradnl" dirty="0"/>
              <a:t> de </a:t>
            </a:r>
            <a:r>
              <a:rPr lang="es-ES_tradnl" dirty="0" err="1"/>
              <a:t>uma</a:t>
            </a:r>
            <a:r>
              <a:rPr lang="es-ES_tradnl" dirty="0"/>
              <a:t> rota Apache Camel</a:t>
            </a:r>
          </a:p>
        </p:txBody>
      </p:sp>
    </p:spTree>
    <p:extLst>
      <p:ext uri="{BB962C8B-B14F-4D97-AF65-F5344CB8AC3E}">
        <p14:creationId xmlns:p14="http://schemas.microsoft.com/office/powerpoint/2010/main" val="1432763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52AB3-F154-2950-ABE6-A4BA22339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35580-596F-6FE4-D166-B025BDD7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Pré-Processamento</a:t>
            </a:r>
            <a:endParaRPr lang="es-ES_tradnl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68874CA0-8E6F-1614-0862-89D7F0649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Java -&gt; LLM -&gt; </a:t>
            </a:r>
            <a:r>
              <a:rPr lang="es-ES_tradnl" dirty="0" err="1"/>
              <a:t>Descrição</a:t>
            </a:r>
            <a:r>
              <a:rPr lang="es-ES_tradnl" dirty="0"/>
              <a:t> </a:t>
            </a:r>
            <a:r>
              <a:rPr lang="es-ES_tradnl" dirty="0" err="1"/>
              <a:t>Semantica</a:t>
            </a:r>
            <a:r>
              <a:rPr lang="es-ES_tradnl" dirty="0"/>
              <a:t> (JSON)</a:t>
            </a:r>
          </a:p>
          <a:p>
            <a:endParaRPr lang="es-ES_tradnl" dirty="0"/>
          </a:p>
          <a:p>
            <a:r>
              <a:rPr lang="es-ES_tradnl" dirty="0" err="1"/>
              <a:t>Limpeza</a:t>
            </a:r>
            <a:r>
              <a:rPr lang="es-ES_tradnl" dirty="0"/>
              <a:t> e </a:t>
            </a:r>
            <a:r>
              <a:rPr lang="es-ES_tradnl" dirty="0" err="1"/>
              <a:t>revisão</a:t>
            </a:r>
            <a:r>
              <a:rPr lang="es-ES_tradnl" dirty="0"/>
              <a:t> dos JSON (170 de 1700 revisados manualmente)</a:t>
            </a:r>
          </a:p>
          <a:p>
            <a:endParaRPr lang="es-ES_tradnl" dirty="0"/>
          </a:p>
          <a:p>
            <a:r>
              <a:rPr lang="es-ES_tradnl" dirty="0" err="1"/>
              <a:t>Descrição</a:t>
            </a:r>
            <a:r>
              <a:rPr lang="es-ES_tradnl" dirty="0"/>
              <a:t> </a:t>
            </a:r>
            <a:r>
              <a:rPr lang="es-ES_tradnl" dirty="0" err="1"/>
              <a:t>Semantica</a:t>
            </a:r>
            <a:r>
              <a:rPr lang="es-ES_tradnl" dirty="0"/>
              <a:t> -&gt; </a:t>
            </a:r>
            <a:r>
              <a:rPr lang="es-ES_tradnl" dirty="0" err="1"/>
              <a:t>Embedding</a:t>
            </a:r>
            <a:endParaRPr lang="es-ES_tradnl" dirty="0"/>
          </a:p>
          <a:p>
            <a:pPr marL="0" indent="0">
              <a:buNone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582621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159D1-A278-7752-20C1-05634C63C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66317C-C91D-0CC6-7B7D-EA2FE822A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PCA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0A5EF646-02DE-F38F-347C-9A0674887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Ausência de linearidade faz com que o modelo não gere boas projeções para clusterização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5408D942-8E0D-F460-14F6-8D8DC4C82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529" y="218938"/>
            <a:ext cx="7133471" cy="642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41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83ECB7-20C5-C93B-A395-331A9AC21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D3FC90-0BA4-4B3D-51E4-C5EAF1147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T-SNE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550ADA49-526B-9DBC-2D36-4A1AABAB7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/>
              <a:t>Captura alguns grupos porém não abre bem um grupo importante de rotas</a:t>
            </a:r>
          </a:p>
        </p:txBody>
      </p:sp>
      <p:pic>
        <p:nvPicPr>
          <p:cNvPr id="4" name="Imagem 3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981549CE-8EC9-FAE7-7C18-708A33567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936" y="406418"/>
            <a:ext cx="7748915" cy="604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60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EDC4F-3806-DBC2-158D-97B92C6DE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DBD26F-9AF7-165C-881C-2936083C9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s-ES_tradnl" sz="5400"/>
              <a:t>UMAP 2D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7610536A-2A91-2216-BC84-D9D083792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s-ES_tradnl" sz="2200"/>
              <a:t>Se assemelha a T-SNE 2D, porém com melhor separação de grupos</a:t>
            </a:r>
          </a:p>
          <a:p>
            <a:r>
              <a:rPr lang="es-ES_tradnl" sz="2200"/>
              <a:t>HDBSCAN sobre UMAP 2D sugere explorar UMAP 3D</a:t>
            </a:r>
          </a:p>
        </p:txBody>
      </p:sp>
      <p:pic>
        <p:nvPicPr>
          <p:cNvPr id="4" name="Imagem 3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35EE8FA6-A9CF-A675-23DA-C82AF03F7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190" y="145185"/>
            <a:ext cx="6431873" cy="625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957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2DB203-0463-B955-6521-3D0DD2848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191854-173C-B971-A857-192E4BA16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s-ES_tradnl" sz="5400" dirty="0"/>
              <a:t>UMAP 3D</a:t>
            </a: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0C23B6E7-5174-C544-5621-92139B92C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s-ES_tradnl" sz="1500" dirty="0"/>
              <a:t>UMAP 3D </a:t>
            </a:r>
            <a:r>
              <a:rPr lang="es-ES_tradnl" sz="1500" dirty="0" err="1"/>
              <a:t>mostra</a:t>
            </a:r>
            <a:r>
              <a:rPr lang="es-ES_tradnl" sz="1500" dirty="0"/>
              <a:t> </a:t>
            </a:r>
            <a:r>
              <a:rPr lang="es-ES_tradnl" sz="1500" dirty="0" err="1"/>
              <a:t>melhor</a:t>
            </a:r>
            <a:r>
              <a:rPr lang="es-ES_tradnl" sz="1500" dirty="0"/>
              <a:t> os grupos</a:t>
            </a:r>
          </a:p>
          <a:p>
            <a:r>
              <a:rPr lang="es-ES_tradnl" sz="1500" dirty="0" err="1"/>
              <a:t>Um</a:t>
            </a:r>
            <a:r>
              <a:rPr lang="es-ES_tradnl" sz="1500" dirty="0"/>
              <a:t> grande grupo </a:t>
            </a:r>
            <a:r>
              <a:rPr lang="es-ES_tradnl" sz="1500" dirty="0" err="1"/>
              <a:t>com</a:t>
            </a:r>
            <a:r>
              <a:rPr lang="es-ES_tradnl" sz="1500" dirty="0"/>
              <a:t> </a:t>
            </a:r>
            <a:r>
              <a:rPr lang="es-ES_tradnl" sz="1500" dirty="0" err="1"/>
              <a:t>pouca</a:t>
            </a:r>
            <a:r>
              <a:rPr lang="es-ES_tradnl" sz="1500" dirty="0"/>
              <a:t> </a:t>
            </a:r>
            <a:r>
              <a:rPr lang="es-ES_tradnl" sz="1500" dirty="0" err="1"/>
              <a:t>separação</a:t>
            </a:r>
            <a:r>
              <a:rPr lang="es-ES_tradnl" sz="1500" dirty="0"/>
              <a:t> clara </a:t>
            </a:r>
            <a:r>
              <a:rPr lang="es-ES_tradnl" sz="1500" dirty="0" err="1"/>
              <a:t>mostra</a:t>
            </a:r>
            <a:r>
              <a:rPr lang="es-ES_tradnl" sz="1500" dirty="0"/>
              <a:t> </a:t>
            </a:r>
            <a:r>
              <a:rPr lang="es-ES_tradnl" sz="1500" dirty="0" err="1"/>
              <a:t>limitação</a:t>
            </a:r>
            <a:r>
              <a:rPr lang="es-ES_tradnl" sz="1500" dirty="0"/>
              <a:t> do método</a:t>
            </a:r>
          </a:p>
          <a:p>
            <a:r>
              <a:rPr lang="es-ES_tradnl" sz="1500" dirty="0"/>
              <a:t>HDBSCAN </a:t>
            </a:r>
            <a:r>
              <a:rPr lang="es-ES_tradnl" sz="1500" dirty="0" err="1"/>
              <a:t>mostra</a:t>
            </a:r>
            <a:r>
              <a:rPr lang="es-ES_tradnl" sz="1500" dirty="0"/>
              <a:t> </a:t>
            </a:r>
            <a:r>
              <a:rPr lang="es-ES_tradnl" sz="1500" dirty="0" err="1"/>
              <a:t>dois</a:t>
            </a:r>
            <a:r>
              <a:rPr lang="es-ES_tradnl" sz="1500" dirty="0"/>
              <a:t> </a:t>
            </a:r>
            <a:r>
              <a:rPr lang="es-ES_tradnl" sz="1500" dirty="0" err="1"/>
              <a:t>patamares</a:t>
            </a:r>
            <a:r>
              <a:rPr lang="es-ES_tradnl" sz="1500" dirty="0"/>
              <a:t> claros de </a:t>
            </a:r>
            <a:r>
              <a:rPr lang="es-ES_tradnl" sz="1500" dirty="0" err="1"/>
              <a:t>separação</a:t>
            </a:r>
            <a:endParaRPr lang="es-ES_tradnl" sz="1500" dirty="0"/>
          </a:p>
          <a:p>
            <a:r>
              <a:rPr lang="es-ES_tradnl" sz="1500" dirty="0"/>
              <a:t>Explorar </a:t>
            </a:r>
            <a:r>
              <a:rPr lang="es-ES_tradnl" sz="1500" dirty="0" err="1"/>
              <a:t>melhor</a:t>
            </a:r>
            <a:r>
              <a:rPr lang="es-ES_tradnl" sz="1500" dirty="0"/>
              <a:t> o grande </a:t>
            </a:r>
            <a:r>
              <a:rPr lang="es-ES_tradnl" sz="1500" dirty="0" err="1"/>
              <a:t>cluster</a:t>
            </a:r>
            <a:r>
              <a:rPr lang="es-ES_tradnl" sz="1500" dirty="0"/>
              <a:t>:</a:t>
            </a:r>
          </a:p>
          <a:p>
            <a:pPr lvl="1"/>
            <a:r>
              <a:rPr lang="es-ES_tradnl" sz="1500" dirty="0" err="1"/>
              <a:t>GridSearch</a:t>
            </a:r>
            <a:r>
              <a:rPr lang="es-ES_tradnl" sz="1500" dirty="0"/>
              <a:t> </a:t>
            </a:r>
            <a:r>
              <a:rPr lang="es-ES_tradnl" sz="1500" dirty="0" err="1"/>
              <a:t>mais</a:t>
            </a:r>
            <a:r>
              <a:rPr lang="es-ES_tradnl" sz="1500" dirty="0"/>
              <a:t> agresivo?</a:t>
            </a:r>
          </a:p>
          <a:p>
            <a:pPr lvl="1"/>
            <a:r>
              <a:rPr lang="es-ES_tradnl" sz="1500" dirty="0"/>
              <a:t>Separar o </a:t>
            </a:r>
            <a:r>
              <a:rPr lang="es-ES_tradnl" sz="1500" dirty="0" err="1"/>
              <a:t>cluster</a:t>
            </a:r>
            <a:r>
              <a:rPr lang="es-ES_tradnl" sz="1500" dirty="0"/>
              <a:t> em alta </a:t>
            </a:r>
            <a:r>
              <a:rPr lang="es-ES_tradnl" sz="1500" dirty="0" err="1"/>
              <a:t>dimensão</a:t>
            </a:r>
            <a:r>
              <a:rPr lang="es-ES_tradnl" sz="1500" dirty="0"/>
              <a:t> e reaplicar UMAP </a:t>
            </a:r>
            <a:r>
              <a:rPr lang="es-ES_tradnl" sz="1500" dirty="0" err="1"/>
              <a:t>com</a:t>
            </a:r>
            <a:r>
              <a:rPr lang="es-ES_tradnl" sz="1500" dirty="0"/>
              <a:t> </a:t>
            </a:r>
            <a:r>
              <a:rPr lang="es-ES_tradnl" sz="1500" dirty="0" err="1"/>
              <a:t>novos</a:t>
            </a:r>
            <a:r>
              <a:rPr lang="es-ES_tradnl" sz="1500" dirty="0"/>
              <a:t> </a:t>
            </a:r>
            <a:r>
              <a:rPr lang="es-ES_tradnl" sz="1500" dirty="0" err="1"/>
              <a:t>parametro</a:t>
            </a:r>
            <a:endParaRPr lang="es-ES_tradnl" sz="1500" dirty="0"/>
          </a:p>
          <a:p>
            <a:endParaRPr lang="es-ES_tradnl" sz="1500" dirty="0"/>
          </a:p>
        </p:txBody>
      </p:sp>
      <p:pic>
        <p:nvPicPr>
          <p:cNvPr id="4" name="Imagem 3" descr="Gráfico, Gráfico de radar&#10;&#10;O conteúdo gerado por IA pode estar incorreto.">
            <a:extLst>
              <a:ext uri="{FF2B5EF4-FFF2-40B4-BE49-F238E27FC236}">
                <a16:creationId xmlns:a16="http://schemas.microsoft.com/office/drawing/2014/main" id="{2CE7A418-F055-02D5-1E7F-2EC3A1CF3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936" y="895646"/>
            <a:ext cx="8132064" cy="506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39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287EE7-35BA-4222-86DF-D4A1E000C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s-ES_tradnl" sz="4600"/>
              <a:t>Supercluster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EDE52E-815E-828F-4071-890E7E9E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s-ES_tradnl" sz="2000"/>
              <a:t>Aplicar HDBSCAN apenas sobre o supercluster com parámetros mais específicos resulta em duas vertentes:</a:t>
            </a:r>
          </a:p>
          <a:p>
            <a:pPr lvl="1"/>
            <a:r>
              <a:rPr lang="es-ES_tradnl" sz="2000"/>
              <a:t>Quantidade de clusters e ruido explode</a:t>
            </a:r>
          </a:p>
          <a:p>
            <a:pPr lvl="1"/>
            <a:r>
              <a:rPr lang="es-ES_tradnl" sz="2000"/>
              <a:t>Cluster colapsa em um grande grupo coeso</a:t>
            </a:r>
          </a:p>
        </p:txBody>
      </p:sp>
      <p:pic>
        <p:nvPicPr>
          <p:cNvPr id="7" name="Imagem 6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9E6D87D1-8C3D-DAAB-AD13-F061E3755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373" y="875009"/>
            <a:ext cx="8198309" cy="510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48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1B6D33-13BD-0FCA-AC3E-383E0C528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6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87E104-4C7C-3A4D-385D-31B341A2E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s-ES_tradnl" sz="4800"/>
              <a:t>Supercluster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3F6FFE-3C81-C52A-0CFC-B8AEF3A6F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s-ES_tradnl" sz="2000" dirty="0"/>
              <a:t>Aplicar </a:t>
            </a:r>
            <a:r>
              <a:rPr lang="es-ES_tradnl" sz="2000" dirty="0" err="1"/>
              <a:t>Agglomerative</a:t>
            </a:r>
            <a:r>
              <a:rPr lang="es-ES_tradnl" sz="2000" dirty="0"/>
              <a:t> </a:t>
            </a:r>
            <a:r>
              <a:rPr lang="es-ES_tradnl" sz="2000" dirty="0" err="1"/>
              <a:t>Clustering</a:t>
            </a:r>
            <a:r>
              <a:rPr lang="es-ES_tradnl" sz="2000" dirty="0"/>
              <a:t> ignora </a:t>
            </a:r>
            <a:r>
              <a:rPr lang="es-ES_tradnl" sz="2000" dirty="0" err="1"/>
              <a:t>densidade</a:t>
            </a:r>
            <a:r>
              <a:rPr lang="es-ES_tradnl" sz="2000" dirty="0"/>
              <a:t> e permite separar de forma </a:t>
            </a:r>
            <a:r>
              <a:rPr lang="es-ES_tradnl" sz="2000" dirty="0" err="1"/>
              <a:t>mais</a:t>
            </a:r>
            <a:r>
              <a:rPr lang="es-ES_tradnl" sz="2000" dirty="0"/>
              <a:t> </a:t>
            </a:r>
            <a:r>
              <a:rPr lang="es-ES_tradnl" sz="2000" dirty="0" err="1"/>
              <a:t>adequada</a:t>
            </a:r>
            <a:r>
              <a:rPr lang="es-ES_tradnl" sz="2000" dirty="0"/>
              <a:t> o </a:t>
            </a:r>
            <a:r>
              <a:rPr lang="es-ES_tradnl" sz="2000" dirty="0" err="1"/>
              <a:t>supercluster</a:t>
            </a:r>
            <a:endParaRPr lang="es-ES_tradnl" sz="2000" dirty="0"/>
          </a:p>
        </p:txBody>
      </p:sp>
      <p:pic>
        <p:nvPicPr>
          <p:cNvPr id="5" name="Imagem 4" descr="Uma imagem contendo Histograma&#10;&#10;O conteúdo gerado por IA pode estar incorreto.">
            <a:extLst>
              <a:ext uri="{FF2B5EF4-FFF2-40B4-BE49-F238E27FC236}">
                <a16:creationId xmlns:a16="http://schemas.microsoft.com/office/drawing/2014/main" id="{C72A03DC-ABF8-E73D-D5EA-AF7430E93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92" y="1965960"/>
            <a:ext cx="11469016" cy="487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493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BBEFB1-E2AC-E621-B33F-F5D4DEF26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D66595-EBE7-61DA-8AD1-491C18A00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s-ES_tradnl" sz="4800"/>
              <a:t>Supercluster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A23D62-CE20-CB2D-B435-8C66909B8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s-ES_tradnl" sz="2200"/>
              <a:t>Altura de corte 12 gera 6 clusters, grupos estão começando a apresentar fronteras pouco estaveis</a:t>
            </a:r>
          </a:p>
        </p:txBody>
      </p:sp>
      <p:pic>
        <p:nvPicPr>
          <p:cNvPr id="6" name="Imagem 5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60B34DB8-39D2-2365-EF48-495CA683C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326" y="1965960"/>
            <a:ext cx="8343348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463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4B74E-445D-AF62-2CBA-D6F5FF989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BDC2DC-701B-9AEC-D910-04A1C2A9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s-ES_tradnl" sz="4800"/>
              <a:t>Supercluster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8D4924-8640-1C85-DF39-C31F9FD7D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s-ES_tradnl" sz="2200" dirty="0"/>
              <a:t>Altura de corte 14 </a:t>
            </a:r>
            <a:r>
              <a:rPr lang="es-ES_tradnl" sz="2200" dirty="0" err="1"/>
              <a:t>gera</a:t>
            </a:r>
            <a:r>
              <a:rPr lang="es-ES_tradnl" sz="2200" dirty="0"/>
              <a:t> 5 </a:t>
            </a:r>
            <a:r>
              <a:rPr lang="es-ES_tradnl" sz="2200" dirty="0" err="1"/>
              <a:t>clusters</a:t>
            </a:r>
            <a:r>
              <a:rPr lang="es-ES_tradnl" sz="2200" dirty="0"/>
              <a:t>, grupos </a:t>
            </a:r>
            <a:r>
              <a:rPr lang="es-ES_tradnl" sz="2200" dirty="0" err="1"/>
              <a:t>começam</a:t>
            </a:r>
            <a:r>
              <a:rPr lang="es-ES_tradnl" sz="2200" dirty="0"/>
              <a:t> a </a:t>
            </a:r>
            <a:r>
              <a:rPr lang="es-ES_tradnl" sz="2200" dirty="0" err="1"/>
              <a:t>apresentar</a:t>
            </a:r>
            <a:r>
              <a:rPr lang="es-ES_tradnl" sz="2200" dirty="0"/>
              <a:t> fronteras </a:t>
            </a:r>
            <a:r>
              <a:rPr lang="es-ES_tradnl" sz="2200" dirty="0" err="1"/>
              <a:t>estaveis</a:t>
            </a:r>
            <a:r>
              <a:rPr lang="es-ES_tradnl" sz="2200" dirty="0"/>
              <a:t>, mas </a:t>
            </a:r>
            <a:r>
              <a:rPr lang="es-ES_tradnl" sz="2200" dirty="0" err="1"/>
              <a:t>ainda</a:t>
            </a:r>
            <a:r>
              <a:rPr lang="es-ES_tradnl" sz="2200" dirty="0"/>
              <a:t> cabe ajuste</a:t>
            </a:r>
          </a:p>
        </p:txBody>
      </p:sp>
      <p:pic>
        <p:nvPicPr>
          <p:cNvPr id="5" name="Imagem 4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73F81EE6-1C49-077E-BC29-CCF38B9CD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326" y="1965960"/>
            <a:ext cx="8343348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654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290C44-336E-CCDC-633E-838BC1023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AFF58D-131C-C6E6-EF92-0E88CAB08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s-ES_tradnl" sz="4800"/>
              <a:t>Supercluster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C10EE-6D83-2DEE-5947-2DFB55333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s-ES_tradnl" sz="2200" dirty="0"/>
              <a:t>Altura de corte 16 </a:t>
            </a:r>
            <a:r>
              <a:rPr lang="es-ES_tradnl" sz="2200" dirty="0" err="1"/>
              <a:t>gera</a:t>
            </a:r>
            <a:r>
              <a:rPr lang="es-ES_tradnl" sz="2200" dirty="0"/>
              <a:t> 4 </a:t>
            </a:r>
            <a:r>
              <a:rPr lang="es-ES_tradnl" sz="2200" dirty="0" err="1"/>
              <a:t>clusters</a:t>
            </a:r>
            <a:r>
              <a:rPr lang="es-ES_tradnl" sz="2200" dirty="0"/>
              <a:t>, grupos </a:t>
            </a:r>
            <a:r>
              <a:rPr lang="es-ES_tradnl" sz="2200" dirty="0" err="1"/>
              <a:t>estão</a:t>
            </a:r>
            <a:r>
              <a:rPr lang="es-ES_tradnl" sz="2200" dirty="0"/>
              <a:t> </a:t>
            </a:r>
            <a:r>
              <a:rPr lang="es-ES_tradnl" sz="2200" dirty="0" err="1"/>
              <a:t>bem</a:t>
            </a:r>
            <a:r>
              <a:rPr lang="es-ES_tradnl" sz="2200" dirty="0"/>
              <a:t> formados e </a:t>
            </a:r>
            <a:r>
              <a:rPr lang="es-ES_tradnl" sz="2200" dirty="0" err="1"/>
              <a:t>estáveis</a:t>
            </a:r>
            <a:endParaRPr lang="es-ES_tradnl" sz="2200" dirty="0"/>
          </a:p>
        </p:txBody>
      </p:sp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FE68A41C-9E97-EFCC-EE4D-173DA97D3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326" y="1965960"/>
            <a:ext cx="8343348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99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2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CC2B11-5723-D99E-1483-7C82DA517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s-ES_tradnl" dirty="0" err="1"/>
              <a:t>Clusterização</a:t>
            </a:r>
            <a:r>
              <a:rPr lang="es-ES_tradnl" dirty="0"/>
              <a:t> Final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79C1F5-4B9E-F241-2FB6-734B10FA1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s-ES_tradnl" sz="2200"/>
              <a:t>Versão final consolidada em 2 niveis: primeiro grandes grupos por densidades, depois separa grande grupo por aglomeração</a:t>
            </a:r>
          </a:p>
        </p:txBody>
      </p:sp>
      <p:pic>
        <p:nvPicPr>
          <p:cNvPr id="7" name="Imagem 6" descr="Gráfico&#10;&#10;O conteúdo gerado por IA pode estar incorreto.">
            <a:extLst>
              <a:ext uri="{FF2B5EF4-FFF2-40B4-BE49-F238E27FC236}">
                <a16:creationId xmlns:a16="http://schemas.microsoft.com/office/drawing/2014/main" id="{62DA13FC-A675-1B6F-B108-7353997435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10" r="2" b="610"/>
          <a:stretch>
            <a:fillRect/>
          </a:stretch>
        </p:blipFill>
        <p:spPr>
          <a:xfrm>
            <a:off x="1781950" y="1965960"/>
            <a:ext cx="8628100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274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338</Words>
  <Application>Microsoft Macintosh PowerPoint</Application>
  <PresentationFormat>Widescreen</PresentationFormat>
  <Paragraphs>56</Paragraphs>
  <Slides>15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do Office</vt:lpstr>
      <vt:lpstr>Segmentação de Rotas Apache Camel Java DSL</vt:lpstr>
      <vt:lpstr>Introdução</vt:lpstr>
      <vt:lpstr>Protocolo e Metodología</vt:lpstr>
      <vt:lpstr>Base de Dados</vt:lpstr>
      <vt:lpstr>Pré-Processamento</vt:lpstr>
      <vt:lpstr>PCA</vt:lpstr>
      <vt:lpstr>T-SNE</vt:lpstr>
      <vt:lpstr>UMAP 2D</vt:lpstr>
      <vt:lpstr>UMAP 3D</vt:lpstr>
      <vt:lpstr>Supercluster</vt:lpstr>
      <vt:lpstr>Supercluster</vt:lpstr>
      <vt:lpstr>Supercluster</vt:lpstr>
      <vt:lpstr>Supercluster</vt:lpstr>
      <vt:lpstr>Supercluster</vt:lpstr>
      <vt:lpstr>Clusterização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 César Faria</dc:creator>
  <cp:lastModifiedBy>Gil César Faria</cp:lastModifiedBy>
  <cp:revision>17</cp:revision>
  <dcterms:created xsi:type="dcterms:W3CDTF">2025-11-12T00:27:07Z</dcterms:created>
  <dcterms:modified xsi:type="dcterms:W3CDTF">2025-12-17T23:33:58Z</dcterms:modified>
</cp:coreProperties>
</file>